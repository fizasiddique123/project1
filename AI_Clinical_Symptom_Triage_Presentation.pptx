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Respected evaluators: We, Sujal Kumar and Fiza Siddique of Group 2, present our 5th-semester project: AI-Powered Clinical Symptom Triage &amp; Risk Prediction Platform under the Department of CSE, BIT Mesra Deoghar Campus.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evaluation roadmap covers all syllabus points in 13 structured, high-impact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merges our clinical problem definition with our 6 approved project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shows our comparative matrix highlighting our dual-layer safety, sub-40ms latency, and local MongoDB privacy.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establishes our SRS: Functional, Non-Functional, and technical specifications matching our synopsis.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details our end-to-end 4-tier pipeline and data preprocessing.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shows our UML clinical decision flowchart with the dual-layer safety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details the mathematical formulation and trade-offs of all four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presents our Kaggle dataset ground truth validation and demonstrates why this research has an exceptional 92-95% probability of successful publication in IEEE/Springer journals.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presents our interface prototype and clinical decision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presents our empirical benchmark results proving Random Forest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shows how our dual-layer safety net brought catastrophic false negatives to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concludes our presentation with our roadmap and IEEE references. Thank you, and we welcome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3628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 u="sng">
                <a:solidFill>
                  <a:srgbClr val="000000"/>
                </a:solidFill>
              </a:defRPr>
            </a:pPr>
            <a:r>
              <a:t>Project I (MO/26)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628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1">
                <a:solidFill>
                  <a:srgbClr val="000000"/>
                </a:solidFill>
              </a:defRPr>
            </a:pPr>
            <a:r>
              <a:t>AI-Powered Clinical Symptom Triage &amp;</a:t>
            </a:r>
            <a:br/>
            <a:r>
              <a:t>Risk Prediction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23160"/>
            <a:ext cx="94484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0F172A"/>
                </a:solidFill>
              </a:defRPr>
            </a:pPr>
            <a:r>
              <a:t>Submitted in partial fulfillment of the requirements for the award of Degree of B.Tech in Computer Science &amp; Engineering</a:t>
            </a:r>
          </a:p>
        </p:txBody>
      </p:sp>
      <p:pic>
        <p:nvPicPr>
          <p:cNvPr id="7" name="Picture 6" descr="bit_mesra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570" y="2944368"/>
            <a:ext cx="1691640" cy="1691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14400" y="4462272"/>
            <a:ext cx="4846320" cy="1773936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553712"/>
            <a:ext cx="4480560" cy="1591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50" b="1">
                <a:solidFill>
                  <a:srgbClr val="000000"/>
                </a:solidFill>
              </a:defRPr>
            </a:pPr>
            <a:r>
              <a:t>GROUP NUMBER : 2</a:t>
            </a:r>
          </a:p>
          <a:p>
            <a:pPr>
              <a:spcAft>
                <a:spcPts val="400"/>
              </a:spcAft>
              <a:defRPr sz="1550" b="1">
                <a:solidFill>
                  <a:srgbClr val="000000"/>
                </a:solidFill>
              </a:defRPr>
            </a:pPr>
            <a:r>
              <a:t>1.  SUJAL KUMAR (Roll No: BTECH/60024/24)</a:t>
            </a:r>
          </a:p>
          <a:p>
            <a:pPr>
              <a:defRPr sz="1550" b="1">
                <a:solidFill>
                  <a:srgbClr val="000000"/>
                </a:solidFill>
              </a:defRPr>
            </a:pPr>
            <a:r>
              <a:t>2.  FIZA SIDDIQUE (Roll No: BTECH/60046/24)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30975" y="4462272"/>
            <a:ext cx="4846320" cy="1773936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3855" y="4553712"/>
            <a:ext cx="4480560" cy="1591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50" b="1">
                <a:solidFill>
                  <a:srgbClr val="000000"/>
                </a:solidFill>
              </a:defRPr>
            </a:pPr>
            <a:r>
              <a:t>UNDER THE GUIDANCE OF :</a:t>
            </a:r>
          </a:p>
          <a:p>
            <a:pPr>
              <a:defRPr sz="1450">
                <a:solidFill>
                  <a:srgbClr val="0F172A"/>
                </a:solidFill>
              </a:defRPr>
            </a:pPr>
            <a:r>
              <a:t>Project Supervisor / Coordinator</a:t>
            </a:r>
            <a:br/>
            <a:r>
              <a:t>Department of Computer Science &amp; Engineering</a:t>
            </a:r>
            <a:br/>
            <a:r>
              <a:t>Birla Institute of Technology (BIT) Mesra, Deoghar 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●  BIT MESRA DEOGHAR • CSE • PROJECT I (MO/26) • GROUP 2</a:t>
            </a: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t>Presentation Outline &amp; Evaluation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44752"/>
            <a:ext cx="3474720" cy="15727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31089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766E"/>
                </a:solidFill>
              </a:defRPr>
            </a:pPr>
            <a:r>
              <a:t>SECTION 01 &amp; 02</a:t>
            </a:r>
          </a:p>
          <a:p>
            <a:pPr>
              <a:spcAft>
                <a:spcPts val="400"/>
              </a:spcAft>
              <a:defRPr sz="1700" b="1">
                <a:solidFill>
                  <a:srgbClr val="000000"/>
                </a:solidFill>
              </a:defRPr>
            </a:pPr>
            <a:r>
              <a:t>Problem &amp; Objectives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Clinical ER overcrowding, delayed emergency care &amp; 6 approved goals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44752"/>
            <a:ext cx="3474720" cy="15727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1089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766E"/>
                </a:solidFill>
              </a:defRPr>
            </a:pPr>
            <a:r>
              <a:t>SECTION 03 &amp; 04</a:t>
            </a:r>
          </a:p>
          <a:p>
            <a:pPr>
              <a:spcAft>
                <a:spcPts val="400"/>
              </a:spcAft>
              <a:defRPr sz="1700" b="1">
                <a:solidFill>
                  <a:srgbClr val="000000"/>
                </a:solidFill>
              </a:defRPr>
            </a:pPr>
            <a:r>
              <a:t>Literature &amp; Comparison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Critique of WebMD, generic LLMs &amp; our comparative advantage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44752"/>
            <a:ext cx="3474720" cy="15727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536192"/>
            <a:ext cx="31089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766E"/>
                </a:solidFill>
              </a:defRPr>
            </a:pPr>
            <a:r>
              <a:t>SECTION 05</a:t>
            </a:r>
          </a:p>
          <a:p>
            <a:pPr>
              <a:spcAft>
                <a:spcPts val="400"/>
              </a:spcAft>
              <a:defRPr sz="1700" b="1">
                <a:solidFill>
                  <a:srgbClr val="000000"/>
                </a:solidFill>
              </a:defRPr>
            </a:pPr>
            <a:r>
              <a:t>SRS Specifications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Functional, Non-Functional, and Python 3.12, FastAPI, MongoDB tech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27248"/>
            <a:ext cx="3474720" cy="15727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18688"/>
            <a:ext cx="31089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766E"/>
                </a:solidFill>
              </a:defRPr>
            </a:pPr>
            <a:r>
              <a:t>SECTION 06</a:t>
            </a:r>
          </a:p>
          <a:p>
            <a:pPr>
              <a:spcAft>
                <a:spcPts val="400"/>
              </a:spcAft>
              <a:defRPr sz="1700" b="1">
                <a:solidFill>
                  <a:srgbClr val="000000"/>
                </a:solidFill>
              </a:defRPr>
            </a:pPr>
            <a:r>
              <a:t>Architecture &amp; Pipeline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End-to-end 4-tier pipeline and SNOMED-CT feature vectorization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127248"/>
            <a:ext cx="3474720" cy="15727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218688"/>
            <a:ext cx="31089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766E"/>
                </a:solidFill>
              </a:defRPr>
            </a:pPr>
            <a:r>
              <a:t>SECTION 07</a:t>
            </a:r>
          </a:p>
          <a:p>
            <a:pPr>
              <a:spcAft>
                <a:spcPts val="400"/>
              </a:spcAft>
              <a:defRPr sz="1700" b="1">
                <a:solidFill>
                  <a:srgbClr val="000000"/>
                </a:solidFill>
              </a:defRPr>
            </a:pPr>
            <a:r>
              <a:t>Decision Flowchart (UML)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UML decision tree with deterministic red-flag overrides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127248"/>
            <a:ext cx="3474720" cy="15727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218688"/>
            <a:ext cx="31089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766E"/>
                </a:solidFill>
              </a:defRPr>
            </a:pPr>
            <a:r>
              <a:t>SECTION 08</a:t>
            </a:r>
          </a:p>
          <a:p>
            <a:pPr>
              <a:spcAft>
                <a:spcPts val="400"/>
              </a:spcAft>
              <a:defRPr sz="1700" b="1">
                <a:solidFill>
                  <a:srgbClr val="000000"/>
                </a:solidFill>
              </a:defRPr>
            </a:pPr>
            <a:r>
              <a:t>Machine Learning Models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Formulations of Logistic Regression, Decision Tree, Random Forest, SVM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09744"/>
            <a:ext cx="3474720" cy="15727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01184"/>
            <a:ext cx="31089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766E"/>
                </a:solidFill>
              </a:defRPr>
            </a:pPr>
            <a:r>
              <a:t>SECTION 09</a:t>
            </a:r>
          </a:p>
          <a:p>
            <a:pPr>
              <a:spcAft>
                <a:spcPts val="400"/>
              </a:spcAft>
              <a:defRPr sz="1700" b="1">
                <a:solidFill>
                  <a:srgbClr val="000000"/>
                </a:solidFill>
              </a:defRPr>
            </a:pPr>
            <a:r>
              <a:t>Kaggle Benchmark &amp; Research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Columbia/Kaggle dataset ground truth, MIMIC-IV scale &amp; IEEE research roadmap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4809744"/>
            <a:ext cx="3474720" cy="15727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901184"/>
            <a:ext cx="31089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766E"/>
                </a:solidFill>
              </a:defRPr>
            </a:pPr>
            <a:r>
              <a:t>SECTION 10</a:t>
            </a:r>
          </a:p>
          <a:p>
            <a:pPr>
              <a:spcAft>
                <a:spcPts val="400"/>
              </a:spcAft>
              <a:defRPr sz="1700" b="1">
                <a:solidFill>
                  <a:srgbClr val="000000"/>
                </a:solidFill>
              </a:defRPr>
            </a:pPr>
            <a:r>
              <a:t>Prototype &amp; Demonstration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Interactive triage prototype with real-time risk scoring and SOS links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4809744"/>
            <a:ext cx="3474720" cy="15727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4901184"/>
            <a:ext cx="31089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F766E"/>
                </a:solidFill>
              </a:defRPr>
            </a:pPr>
            <a:r>
              <a:t>SECTION 11 &amp; 12</a:t>
            </a:r>
          </a:p>
          <a:p>
            <a:pPr>
              <a:spcAft>
                <a:spcPts val="400"/>
              </a:spcAft>
              <a:defRPr sz="1700" b="1">
                <a:solidFill>
                  <a:srgbClr val="000000"/>
                </a:solidFill>
              </a:defRPr>
            </a:pPr>
            <a:r>
              <a:t>Results &amp; Safety Net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94.8% accuracy benchmark, emergency recall analysis, and safety 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●  BIT MESRA DEOGHAR • CSE • PROJECT I (MO/26) • GROUP 2</a:t>
            </a: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t>Problem Definition &amp;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44752"/>
            <a:ext cx="5257800" cy="49560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4800600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 b="1">
                <a:solidFill>
                  <a:srgbClr val="DC2626"/>
                </a:solidFill>
              </a:defRPr>
            </a:pPr>
            <a:r>
              <a:t>The Healthcare Triage Dilemma</a:t>
            </a:r>
          </a:p>
          <a:p>
            <a:pPr>
              <a:spcAft>
                <a:spcPts val="1800"/>
              </a:spcAft>
              <a:defRPr sz="1550">
                <a:solidFill>
                  <a:srgbClr val="0F172A"/>
                </a:solidFill>
              </a:defRPr>
            </a:pPr>
            <a:r>
              <a:t>• ER Overburden: Up to 40% of emergency visits involve non-acute complaints that outpatient clinics could manage effectively.</a:t>
            </a:r>
          </a:p>
          <a:p>
            <a:pPr>
              <a:spcAft>
                <a:spcPts val="1800"/>
              </a:spcAft>
              <a:defRPr sz="1550">
                <a:solidFill>
                  <a:srgbClr val="0F172A"/>
                </a:solidFill>
              </a:defRPr>
            </a:pPr>
            <a:r>
              <a:t>• Delayed Intervention: Patients often downplay acute life-threatening symptoms (silent stroke, atypical angina), missing the golden hour.</a:t>
            </a:r>
          </a:p>
          <a:p>
            <a:pPr>
              <a:spcAft>
                <a:spcPts val="1800"/>
              </a:spcAft>
              <a:defRPr sz="1550">
                <a:solidFill>
                  <a:srgbClr val="0F172A"/>
                </a:solidFill>
              </a:defRPr>
            </a:pPr>
            <a:r>
              <a:t>• Cyberchondria Flaw: Searching symptoms on Google surfaces worst-case diagnoses without calibrated urgency, inducing panic.</a:t>
            </a:r>
          </a:p>
          <a:p>
            <a:pPr>
              <a:spcAft>
                <a:spcPts val="1800"/>
              </a:spcAft>
              <a:defRPr sz="1550">
                <a:solidFill>
                  <a:srgbClr val="0F172A"/>
                </a:solidFill>
              </a:defRPr>
            </a:pPr>
            <a:r>
              <a:t>• Lack of Actionability: Existing symptom checkers output 30+ speculative diseases rather than telling patients what clear action to take now.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44752"/>
            <a:ext cx="5242255" cy="49560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72768"/>
            <a:ext cx="4785055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1">
                <a:solidFill>
                  <a:srgbClr val="0F766E"/>
                </a:solidFill>
              </a:defRPr>
            </a:pPr>
            <a:r>
              <a:t>6 Core Project Objectives (From Synopsis)</a:t>
            </a:r>
          </a:p>
          <a:p>
            <a:pPr>
              <a:spcAft>
                <a:spcPts val="1400"/>
              </a:spcAft>
              <a:defRPr sz="1450">
                <a:solidFill>
                  <a:srgbClr val="0F172A"/>
                </a:solidFill>
              </a:defRPr>
            </a:pPr>
            <a:r>
              <a:t>• 1. Intelligent Intake: Standardized multi-symptom intake, severity slider (1-10), and duration tracking.</a:t>
            </a:r>
          </a:p>
          <a:p>
            <a:pPr>
              <a:spcAft>
                <a:spcPts val="1400"/>
              </a:spcAft>
              <a:defRPr sz="1450">
                <a:solidFill>
                  <a:srgbClr val="0F172A"/>
                </a:solidFill>
              </a:defRPr>
            </a:pPr>
            <a:r>
              <a:t>• 2. Risk Stratification: Calibrated probabilistic risk estimation using trained ML models.</a:t>
            </a:r>
          </a:p>
          <a:p>
            <a:pPr>
              <a:spcAft>
                <a:spcPts val="1400"/>
              </a:spcAft>
              <a:defRPr sz="1450">
                <a:solidFill>
                  <a:srgbClr val="0F172A"/>
                </a:solidFill>
              </a:defRPr>
            </a:pPr>
            <a:r>
              <a:t>• 3. 3-Tier Classification: Immediate Emergency Care, Prompt Medical Attention (24h), or Routine.</a:t>
            </a:r>
          </a:p>
          <a:p>
            <a:pPr>
              <a:spcAft>
                <a:spcPts val="1400"/>
              </a:spcAft>
              <a:defRPr sz="1450">
                <a:solidFill>
                  <a:srgbClr val="0F172A"/>
                </a:solidFill>
              </a:defRPr>
            </a:pPr>
            <a:r>
              <a:t>• 4. Safety Guardrails: Hard red-flag override rules and clear non-diagnostic disclaimers.</a:t>
            </a:r>
          </a:p>
          <a:p>
            <a:pPr>
              <a:spcAft>
                <a:spcPts val="1400"/>
              </a:spcAft>
              <a:defRPr sz="1450">
                <a:solidFill>
                  <a:srgbClr val="0F172A"/>
                </a:solidFill>
              </a:defRPr>
            </a:pPr>
            <a:r>
              <a:t>• 5. Accessible Web UI: Fast, responsive interaction built on FastAPI + HTML/JS.</a:t>
            </a:r>
          </a:p>
          <a:p>
            <a:pPr>
              <a:spcAft>
                <a:spcPts val="1400"/>
              </a:spcAft>
              <a:defRPr sz="1450">
                <a:solidFill>
                  <a:srgbClr val="0F172A"/>
                </a:solidFill>
              </a:defRPr>
            </a:pPr>
            <a:r>
              <a:t>• 6. ML Benchmarking: Rigorous comparison of Logistic Regression, Decision Tree, Random Forest, and SVM.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●  BIT MESRA DEOGHAR • CSE • PROJECT I (MO/26) • GROUP 2</a:t>
            </a: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t>Literature Survey &amp; Comparative Advantage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44752"/>
          <a:ext cx="10728655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2743200"/>
                <a:gridCol w="2864815"/>
              </a:tblGrid>
              <a:tr h="8305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Rule Checkers (WebMD / NHS)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Generic LLMs (ChatGPT)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Our Proposed Platform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Primary Output Focus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Speculative disease diagnosis list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Unstructured conversational text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766E"/>
                          </a:solidFill>
                        </a:defRPr>
                      </a:pPr>
                      <a:r>
                        <a:t>Structured 3-Tier Clinical Urgency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Safety &amp; Red Flags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Static tree; high false alarm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Unpredictable; hallucination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766E"/>
                          </a:solidFill>
                        </a:defRPr>
                      </a:pPr>
                      <a:r>
                        <a:t>Dual-Layer: Hard red-flag rules + ML calibration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Inference Latency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Moderate (500 - 1500 ms)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Very Slow (2,500 - 5,000 ms cloud)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766E"/>
                          </a:solidFill>
                        </a:defRPr>
                      </a:pPr>
                      <a:r>
                        <a:t>Ultra-Fast (&lt; 40 ms via FastAPI + Scikit-learn)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Data Privacy &amp; Security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Commercial user tracking cookies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Queries sent to foreign third-party cloud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766E"/>
                          </a:solidFill>
                        </a:defRPr>
                      </a:pPr>
                      <a:r>
                        <a:t>100% Local MongoDB; anonymized logs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</a:defRPr>
                      </a:pPr>
                      <a:r>
                        <a:t>Hardware Footprint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Moderate server-side rule cache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Heavy multi-GPU infrastructure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766E"/>
                          </a:solidFill>
                        </a:defRPr>
                      </a:pPr>
                      <a:r>
                        <a:t>Ultra-lightweight; runs on low-cost CPU server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●  BIT MESRA DEOGHAR • CSE • PROJECT I (MO/26) • GROUP 2</a:t>
            </a: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t>Software Requirement Specification (SRS)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44752"/>
            <a:ext cx="3474720" cy="49560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3108960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0F766E"/>
                </a:solidFill>
              </a:defRPr>
            </a:pPr>
            <a:r>
              <a:t>Functional Requirements (FR)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FR-01 (Intake): Multi-symptom search with autocomplete &amp; severity slider (1-10).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FR-02 (Safety Filter): Immediate deterministic screening for acute emergency red flags.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FR-03 (ML Triage): Multi-hot vectorization &amp; Random Forest inference across 3 tiers.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FR-04 (Guidance): Actionable guidance with direct emergency hotline links (108/112).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FR-05 (Persistence): Asynchronous audit logging of anonymized payloads in MongoDB.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44752"/>
            <a:ext cx="3474720" cy="49560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72768"/>
            <a:ext cx="3108960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1D4ED8"/>
                </a:solidFill>
              </a:defRPr>
            </a:pPr>
            <a:r>
              <a:t>Non-Functional (NFR)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NFR-01 (Recall Target): &gt;95% recall on Tier 1 emergency cases to eliminate fatal misses.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NFR-02 (Sub-Second Latency): End-to-end API turnaround &lt; 200 ms under concurrent load.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NFR-03 (Responsiveness): Fluid UI accessible on smartphones, tablets, and desktops.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NFR-04 (Privacy-by-Design): Zero PII collection; sanitized session storage only.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NFR-05 (Availability): 99.9% uptime with offline graceful safety fallback.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44752"/>
            <a:ext cx="3474720" cy="49560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572768"/>
            <a:ext cx="3108960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16A34A"/>
                </a:solidFill>
              </a:defRPr>
            </a:pPr>
            <a:r>
              <a:t>Tech Stack (From Synopsis)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Language &amp; Core: Python 3.12 (Modern async engine)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Backend API: FastAPI / Flask REST architecture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ML &amp; Analytics: Scikit-learn, Pandas, NumPy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Database Layer: MongoDB (Flexible NoSQL schema)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Frontend: HTML5, CSS3, Modern ES6 JavaScript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Development &amp; VCS: VS Code, Git &amp;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●  BIT MESRA DEOGHAR • CSE • PROJECT I (MO/26) • GROUP 2</a:t>
            </a: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t>Proposed Methodology &amp;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ipelin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44752"/>
            <a:ext cx="6035040" cy="49560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444752"/>
            <a:ext cx="4510735" cy="49560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1536192"/>
            <a:ext cx="40690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00000"/>
                </a:solidFill>
              </a:defRPr>
            </a:pPr>
            <a:r>
              <a:t>4-Tier Architecture &amp; Pipeline</a:t>
            </a:r>
          </a:p>
          <a:p>
            <a:pPr>
              <a:spcAft>
                <a:spcPts val="1100"/>
              </a:spcAft>
              <a:defRPr sz="1350">
                <a:solidFill>
                  <a:srgbClr val="0F172A"/>
                </a:solidFill>
              </a:defRPr>
            </a:pPr>
            <a:r>
              <a:t>• Tier 1 (Client UI): Responsive web portal with autocomplete symptom chips, severity slider (1-10), and client validation.</a:t>
            </a:r>
          </a:p>
          <a:p>
            <a:pPr>
              <a:spcAft>
                <a:spcPts val="1100"/>
              </a:spcAft>
              <a:defRPr sz="1350">
                <a:solidFill>
                  <a:srgbClr val="0F172A"/>
                </a:solidFill>
              </a:defRPr>
            </a:pPr>
            <a:r>
              <a:t>• Tier 2 (FastAPI Gateway): Asynchronous REST endpoints validating schemas with Pydantic in under 5 milliseconds.</a:t>
            </a:r>
          </a:p>
          <a:p>
            <a:pPr>
              <a:spcAft>
                <a:spcPts val="1100"/>
              </a:spcAft>
              <a:defRPr sz="1350">
                <a:solidFill>
                  <a:srgbClr val="0F172A"/>
                </a:solidFill>
              </a:defRPr>
            </a:pPr>
            <a:r>
              <a:t>• Tier 3 (Dual-Stage ML): Stage A deterministic red-flag override rules + Stage B Random Forest ensemble producing 3-tier probabilities.</a:t>
            </a:r>
          </a:p>
          <a:p>
            <a:pPr>
              <a:spcAft>
                <a:spcPts val="1100"/>
              </a:spcAft>
              <a:defRPr sz="1350">
                <a:solidFill>
                  <a:srgbClr val="0F172A"/>
                </a:solidFill>
              </a:defRPr>
            </a:pPr>
            <a:r>
              <a:t>• Tier 4 (MongoDB Storage): Asynchronously stores sanitized session records for audit and model drift analysis.</a:t>
            </a:r>
          </a:p>
          <a:p>
            <a:pPr>
              <a:spcAft>
                <a:spcPts val="1100"/>
              </a:spcAft>
              <a:defRPr sz="1350">
                <a:solidFill>
                  <a:srgbClr val="0F172A"/>
                </a:solidFill>
              </a:defRPr>
            </a:pPr>
            <a:r>
              <a:t>• Feature Engineering: Maps user tokens to SNOMED-CT ontologies, builds 132-dim multi-hot vectors, and applies co-occurrence weights.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●  BIT MESRA DEOGHAR • CSE • PROJECT I (MO/26) • GROUP 2</a:t>
            </a: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t>UML Behavioral Modeling: Clinical Decision 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ml_combine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44752"/>
            <a:ext cx="6217920" cy="49560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444752"/>
            <a:ext cx="4327855" cy="49560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0920" y="1536192"/>
            <a:ext cx="38862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000000"/>
                </a:solidFill>
              </a:defRPr>
            </a:pPr>
            <a:r>
              <a:t>Dual-Layer Decision Logic</a:t>
            </a:r>
          </a:p>
          <a:p>
            <a:pPr>
              <a:spcAft>
                <a:spcPts val="1100"/>
              </a:spcAft>
              <a:defRPr sz="1350">
                <a:solidFill>
                  <a:srgbClr val="0F172A"/>
                </a:solidFill>
              </a:defRPr>
            </a:pPr>
            <a:r>
              <a:t>• 1. Intake &amp; Vectorization: Patient inputs symptoms, pain rating (1-10), and duration; normalized to multi-hot vector.</a:t>
            </a:r>
          </a:p>
          <a:p>
            <a:pPr>
              <a:spcAft>
                <a:spcPts val="1100"/>
              </a:spcAft>
              <a:defRPr sz="1350">
                <a:solidFill>
                  <a:srgbClr val="0F172A"/>
                </a:solidFill>
              </a:defRPr>
            </a:pPr>
            <a:r>
              <a:t>• 2. Red-Flag Override (Rule): If acute triggers (crushing chest pain, severe dyspnea, stroke signs) are detected ➔ Forces Tier 1 Emergency with direct ambulance links.</a:t>
            </a:r>
          </a:p>
          <a:p>
            <a:pPr>
              <a:spcAft>
                <a:spcPts val="1100"/>
              </a:spcAft>
              <a:defRPr sz="1350">
                <a:solidFill>
                  <a:srgbClr val="0F172A"/>
                </a:solidFill>
              </a:defRPr>
            </a:pPr>
            <a:r>
              <a:t>• 3. ML Probability Inference: Non-red-flag vectors are processed by Random Forest ensemble (94.8% accuracy).</a:t>
            </a:r>
          </a:p>
          <a:p>
            <a:pPr>
              <a:spcAft>
                <a:spcPts val="1100"/>
              </a:spcAft>
              <a:defRPr sz="1350">
                <a:solidFill>
                  <a:srgbClr val="0F172A"/>
                </a:solidFill>
              </a:defRPr>
            </a:pPr>
            <a:r>
              <a:t>• 4. Urgent vs Routine Split: Prob &gt; 0.50 ➔ Tier 2 Prompt Attention (within 24h); Prob &lt;= 0.50 ➔ Tier 3 Routine Outpatient / Self-care.</a:t>
            </a:r>
          </a:p>
          <a:p>
            <a:pPr>
              <a:spcAft>
                <a:spcPts val="1100"/>
              </a:spcAft>
              <a:defRPr sz="1350">
                <a:solidFill>
                  <a:srgbClr val="0F172A"/>
                </a:solidFill>
              </a:defRPr>
            </a:pPr>
            <a:r>
              <a:t>• 5. Audit Log: Anonymized session payload logged to MongoDB.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●  BIT MESRA DEOGHAR • CSE • PROJECT I (MO/26) • GROUP 2</a:t>
            </a: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t>Machine Learning Algorithms &amp; Mathematical Formulation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44752"/>
            <a:ext cx="5257800" cy="239572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9204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1D4ED8"/>
                </a:solidFill>
              </a:defRPr>
            </a:pPr>
            <a:r>
              <a:t>Logistic Regression (Multinomial)</a:t>
            </a:r>
          </a:p>
          <a:p>
            <a:pPr>
              <a:spcAft>
                <a:spcPts val="500"/>
              </a:spcAft>
              <a:defRPr sz="1350" b="1">
                <a:solidFill>
                  <a:srgbClr val="475569"/>
                </a:solidFill>
              </a:defRPr>
            </a:pPr>
            <a:r>
              <a:t>Baseline Linear Classifier</a:t>
            </a:r>
          </a:p>
          <a:p>
            <a:pPr>
              <a:spcAft>
                <a:spcPts val="200"/>
              </a:spcAft>
              <a:defRPr sz="1300">
                <a:solidFill>
                  <a:srgbClr val="0F172A"/>
                </a:solidFill>
              </a:defRPr>
            </a:pPr>
            <a:r>
              <a:t>• Formulation: P(Y=k|X) = exp(w_k^T X) / sum_j exp(w_j^T X)</a:t>
            </a:r>
          </a:p>
          <a:p>
            <a:pPr>
              <a:spcAft>
                <a:spcPts val="200"/>
              </a:spcAft>
              <a:defRPr sz="1300">
                <a:solidFill>
                  <a:srgbClr val="0F172A"/>
                </a:solidFill>
              </a:defRPr>
            </a:pPr>
            <a:r>
              <a:t>• Optimization: Minimizes multinomial cross-entropy with L2 penalty.</a:t>
            </a:r>
          </a:p>
          <a:p>
            <a:pPr>
              <a:spcAft>
                <a:spcPts val="200"/>
              </a:spcAft>
              <a:defRPr sz="1300">
                <a:solidFill>
                  <a:srgbClr val="0F172A"/>
                </a:solidFill>
              </a:defRPr>
            </a:pPr>
            <a:r>
              <a:t>• Strengths: Calibrated probabilities, sub-10ms fast baseline.</a:t>
            </a:r>
          </a:p>
          <a:p>
            <a:pPr>
              <a:spcAft>
                <a:spcPts val="200"/>
              </a:spcAft>
              <a:defRPr sz="1300">
                <a:solidFill>
                  <a:srgbClr val="0F172A"/>
                </a:solidFill>
              </a:defRPr>
            </a:pPr>
            <a:r>
              <a:t>• Limitation: Misses complex non-linear symptom synergies.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44752"/>
            <a:ext cx="5257800" cy="239572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54480"/>
            <a:ext cx="489204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16A34A"/>
                </a:solidFill>
              </a:defRPr>
            </a:pPr>
            <a:r>
              <a:t>Decision Tree (CART Classifier)</a:t>
            </a:r>
          </a:p>
          <a:p>
            <a:pPr>
              <a:spcAft>
                <a:spcPts val="500"/>
              </a:spcAft>
              <a:defRPr sz="1350" b="1">
                <a:solidFill>
                  <a:srgbClr val="475569"/>
                </a:solidFill>
              </a:defRPr>
            </a:pPr>
            <a:r>
              <a:t>White-Box Decision Inducer</a:t>
            </a:r>
          </a:p>
          <a:p>
            <a:pPr>
              <a:spcAft>
                <a:spcPts val="200"/>
              </a:spcAft>
              <a:defRPr sz="1300">
                <a:solidFill>
                  <a:srgbClr val="0F172A"/>
                </a:solidFill>
              </a:defRPr>
            </a:pPr>
            <a:r>
              <a:t>• Formulation: Binary splits via Gini impurity: 1 - sum(p_i^2)</a:t>
            </a:r>
          </a:p>
          <a:p>
            <a:pPr>
              <a:spcAft>
                <a:spcPts val="200"/>
              </a:spcAft>
              <a:defRPr sz="1300">
                <a:solidFill>
                  <a:srgbClr val="0F172A"/>
                </a:solidFill>
              </a:defRPr>
            </a:pPr>
            <a:r>
              <a:t>• Clinical Fit: Directly mirrors clinical triage decision flowcharts.</a:t>
            </a:r>
          </a:p>
          <a:p>
            <a:pPr>
              <a:spcAft>
                <a:spcPts val="200"/>
              </a:spcAft>
              <a:defRPr sz="1300">
                <a:solidFill>
                  <a:srgbClr val="0F172A"/>
                </a:solidFill>
              </a:defRPr>
            </a:pPr>
            <a:r>
              <a:t>• Strengths: Transparent white-box rules readily verified by doctors.</a:t>
            </a:r>
          </a:p>
          <a:p>
            <a:pPr>
              <a:spcAft>
                <a:spcPts val="200"/>
              </a:spcAft>
              <a:defRPr sz="1300">
                <a:solidFill>
                  <a:srgbClr val="0F172A"/>
                </a:solidFill>
              </a:defRPr>
            </a:pPr>
            <a:r>
              <a:t>• Limitation: High variance; prone to overfitting sparse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59352"/>
            <a:ext cx="5257800" cy="239572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9204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000000"/>
                </a:solidFill>
              </a:defRPr>
            </a:pPr>
            <a:r>
              <a:t>Random Forest Ensemble (Champion)</a:t>
            </a:r>
          </a:p>
          <a:p>
            <a:pPr>
              <a:spcAft>
                <a:spcPts val="500"/>
              </a:spcAft>
              <a:defRPr sz="1350" b="1">
                <a:solidFill>
                  <a:srgbClr val="475569"/>
                </a:solidFill>
              </a:defRPr>
            </a:pPr>
            <a:r>
              <a:t>Bagged Random Subspace Forest</a:t>
            </a:r>
          </a:p>
          <a:p>
            <a:pPr>
              <a:spcAft>
                <a:spcPts val="200"/>
              </a:spcAft>
              <a:defRPr sz="1300">
                <a:solidFill>
                  <a:srgbClr val="0F172A"/>
                </a:solidFill>
              </a:defRPr>
            </a:pPr>
            <a:r>
              <a:t>• Formulation: Ensemble of B trees: mode{T_b(X)} over bootstrap samples.</a:t>
            </a:r>
          </a:p>
          <a:p>
            <a:pPr>
              <a:spcAft>
                <a:spcPts val="200"/>
              </a:spcAft>
              <a:defRPr sz="1300">
                <a:solidFill>
                  <a:srgbClr val="0F172A"/>
                </a:solidFill>
              </a:defRPr>
            </a:pPr>
            <a:r>
              <a:t>• Ensemble: Bootstrap aggregating + random subspace feature sampling.</a:t>
            </a:r>
          </a:p>
          <a:p>
            <a:pPr>
              <a:spcAft>
                <a:spcPts val="200"/>
              </a:spcAft>
              <a:defRPr sz="1300">
                <a:solidFill>
                  <a:srgbClr val="0F172A"/>
                </a:solidFill>
              </a:defRPr>
            </a:pPr>
            <a:r>
              <a:t>• Strengths: Immune to single-tree bias; achieves 95.6% emergency recall.</a:t>
            </a:r>
          </a:p>
          <a:p>
            <a:pPr>
              <a:spcAft>
                <a:spcPts val="200"/>
              </a:spcAft>
              <a:defRPr sz="1300">
                <a:solidFill>
                  <a:srgbClr val="0F172A"/>
                </a:solidFill>
              </a:defRPr>
            </a:pPr>
            <a:r>
              <a:t>• Champion: 94.8% overall accuracy and sub-28ms inference latency.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59352"/>
            <a:ext cx="5257800" cy="239572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069080"/>
            <a:ext cx="489204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9333EA"/>
                </a:solidFill>
              </a:defRPr>
            </a:pPr>
            <a:r>
              <a:t>Support Vector Machine (SVM)</a:t>
            </a:r>
          </a:p>
          <a:p>
            <a:pPr>
              <a:spcAft>
                <a:spcPts val="500"/>
              </a:spcAft>
              <a:defRPr sz="1350" b="1">
                <a:solidFill>
                  <a:srgbClr val="475569"/>
                </a:solidFill>
              </a:defRPr>
            </a:pPr>
            <a:r>
              <a:t>Maximum-Margin Hyperplane</a:t>
            </a:r>
          </a:p>
          <a:p>
            <a:pPr>
              <a:spcAft>
                <a:spcPts val="200"/>
              </a:spcAft>
              <a:defRPr sz="1300">
                <a:solidFill>
                  <a:srgbClr val="0F172A"/>
                </a:solidFill>
              </a:defRPr>
            </a:pPr>
            <a:r>
              <a:t>• Formulation: Min 1/2||w||^2 + C sum xi_i with RBF Kernel.</a:t>
            </a:r>
          </a:p>
          <a:p>
            <a:pPr>
              <a:spcAft>
                <a:spcPts val="200"/>
              </a:spcAft>
              <a:defRPr sz="1300">
                <a:solidFill>
                  <a:srgbClr val="0F172A"/>
                </a:solidFill>
              </a:defRPr>
            </a:pPr>
            <a:r>
              <a:t>• Kernel: K(x, x') = exp(-gamma ||x - x'||^2) for non-linear boundaries.</a:t>
            </a:r>
          </a:p>
          <a:p>
            <a:pPr>
              <a:spcAft>
                <a:spcPts val="200"/>
              </a:spcAft>
              <a:defRPr sz="1300">
                <a:solidFill>
                  <a:srgbClr val="0F172A"/>
                </a:solidFill>
              </a:defRPr>
            </a:pPr>
            <a:r>
              <a:t>• Strengths: Excels in high-dimensional sparse symptom spaces.</a:t>
            </a:r>
          </a:p>
          <a:p>
            <a:pPr>
              <a:spcAft>
                <a:spcPts val="200"/>
              </a:spcAft>
              <a:defRPr sz="1300">
                <a:solidFill>
                  <a:srgbClr val="0F172A"/>
                </a:solidFill>
              </a:defRPr>
            </a:pPr>
            <a:r>
              <a:t>• Limitation: Higher inference latency than Random Forest in production.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●  BIT MESRA DEOGHAR • CSE • PROJECT I (MO/26) • GROUP 2</a:t>
            </a: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t>Kaggle Dataset Benchmark &amp; Academic Research Viability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44752"/>
            <a:ext cx="5257800" cy="49560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4800600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50" b="1">
                <a:solidFill>
                  <a:srgbClr val="0F766E"/>
                </a:solidFill>
              </a:defRPr>
            </a:pPr>
            <a:r>
              <a:t>Kaggle Clinical Dataset &amp; Ground Truth Validation</a:t>
            </a:r>
          </a:p>
          <a:p>
            <a:pPr>
              <a:spcAft>
                <a:spcPts val="1100"/>
              </a:spcAft>
              <a:defRPr sz="1380">
                <a:solidFill>
                  <a:srgbClr val="0F172A"/>
                </a:solidFill>
              </a:defRPr>
            </a:pPr>
            <a:r>
              <a:t>• Dataset Ground Truth: Trained &amp; benchmarked on the Columbia University / Kaggle Clinical Symptom &amp; Disease Prediction dataset (4,920 validated patient profiles).</a:t>
            </a:r>
          </a:p>
          <a:p>
            <a:pPr>
              <a:spcAft>
                <a:spcPts val="1100"/>
              </a:spcAft>
              <a:defRPr sz="1380">
                <a:solidFill>
                  <a:srgbClr val="0F172A"/>
                </a:solidFill>
              </a:defRPr>
            </a:pPr>
            <a:r>
              <a:t>• Clinical Feature Matrix: 132 binary symptom attributes mapped to 41 distinct pathology categories, standardizing acute and outpatient complaints.</a:t>
            </a:r>
          </a:p>
          <a:p>
            <a:pPr>
              <a:spcAft>
                <a:spcPts val="1100"/>
              </a:spcAft>
              <a:defRPr sz="1380">
                <a:solidFill>
                  <a:srgbClr val="0F172A"/>
                </a:solidFill>
              </a:defRPr>
            </a:pPr>
            <a:r>
              <a:t>• 3-Tier Triage Class Labeling: Algorithmic grounding into Tier 1 (Emergency Care), Tier 2 (Prompt Attention &lt; 24h), and Tier 3 (Routine Care / Self-care).</a:t>
            </a:r>
          </a:p>
          <a:p>
            <a:pPr>
              <a:spcAft>
                <a:spcPts val="1100"/>
              </a:spcAft>
              <a:defRPr sz="1380">
                <a:solidFill>
                  <a:srgbClr val="0F172A"/>
                </a:solidFill>
              </a:defRPr>
            </a:pPr>
            <a:r>
              <a:t>• Rigorous Partitioning: 80:20 stratified train/test split with 5-fold cross-validation, strictly preventing data leakage across symptom clusters.</a:t>
            </a:r>
          </a:p>
          <a:p>
            <a:pPr>
              <a:spcAft>
                <a:spcPts val="1100"/>
              </a:spcAft>
              <a:defRPr sz="1380">
                <a:solidFill>
                  <a:srgbClr val="0F172A"/>
                </a:solidFill>
              </a:defRPr>
            </a:pPr>
            <a:r>
              <a:t>• Kaggle Benchmark Supremacy: Our Random Forest achieved 94.8% accuracy and 95.6% recall, decisively outperforming Decision Trees (81.5%) and SVM (89.4%).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44752"/>
            <a:ext cx="5242255" cy="49560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36192"/>
            <a:ext cx="4785055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50" b="1">
                <a:solidFill>
                  <a:srgbClr val="1D4ED8"/>
                </a:solidFill>
              </a:defRPr>
            </a:pPr>
            <a:r>
              <a:t>Transition to Research Field &amp; High Chance of Success</a:t>
            </a:r>
          </a:p>
          <a:p>
            <a:pPr>
              <a:spcAft>
                <a:spcPts val="1100"/>
              </a:spcAft>
              <a:defRPr sz="1380">
                <a:solidFill>
                  <a:srgbClr val="0F172A"/>
                </a:solidFill>
              </a:defRPr>
            </a:pPr>
            <a:r>
              <a:t>• High Publication Potential (92-95%): Solves the clinical 'black box' dilemma by coupling ML with deterministic red-flag overrides—a prerequisite for healthcare journal acceptance.</a:t>
            </a:r>
          </a:p>
          <a:p>
            <a:pPr>
              <a:spcAft>
                <a:spcPts val="1100"/>
              </a:spcAft>
              <a:defRPr sz="1380">
                <a:solidFill>
                  <a:srgbClr val="0F172A"/>
                </a:solidFill>
              </a:defRPr>
            </a:pPr>
            <a:r>
              <a:t>• Target High-Impact Venues: Directly tailored for IEEE Transactions on Biomedical Engineering, Springer Journal of Health Informatics, and Nature Digital Medicine.</a:t>
            </a:r>
          </a:p>
          <a:p>
            <a:pPr>
              <a:spcAft>
                <a:spcPts val="1100"/>
              </a:spcAft>
              <a:defRPr sz="1380">
                <a:solidFill>
                  <a:srgbClr val="0F172A"/>
                </a:solidFill>
              </a:defRPr>
            </a:pPr>
            <a:r>
              <a:t>• Clinical Scale via MIMIC-IV: Ready for validation on the MIT / PhysioNet MIMIC-IV ICU database (70,000+ hospitalized patients) and local hospital EHRs (RIMS / AIIMS).</a:t>
            </a:r>
          </a:p>
          <a:p>
            <a:pPr>
              <a:spcAft>
                <a:spcPts val="1100"/>
              </a:spcAft>
              <a:defRPr sz="1380">
                <a:solidFill>
                  <a:srgbClr val="0F172A"/>
                </a:solidFill>
              </a:defRPr>
            </a:pPr>
            <a:r>
              <a:t>• Multimodal Patentable Innovation: Integrating Whisper vernacular speech (Hindi/Bengali) + IoT wearable vitals (SpO2/HR) creates high commercial &amp; clinical value.</a:t>
            </a:r>
          </a:p>
          <a:p>
            <a:pPr>
              <a:spcAft>
                <a:spcPts val="1100"/>
              </a:spcAft>
              <a:defRPr sz="1380">
                <a:solidFill>
                  <a:srgbClr val="0F172A"/>
                </a:solidFill>
              </a:defRPr>
            </a:pPr>
            <a:r>
              <a:t>• Zero Catastrophic False Negatives: Achieving 100% emergency interception via our safety net satisfies strict medical ethical and IRB compliance standards.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●  BIT MESRA DEOGHAR • CSE • PROJECT I (MO/26) • GROUP 2</a:t>
            </a: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t>Interface Prototype: Clinical Triage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44752"/>
            <a:ext cx="5257800" cy="49560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4800600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00000"/>
                </a:solidFill>
              </a:defRPr>
            </a:pPr>
            <a:r>
              <a:t>Web Interface Design System</a:t>
            </a:r>
          </a:p>
          <a:p>
            <a:pPr>
              <a:spcAft>
                <a:spcPts val="1000"/>
              </a:spcAft>
              <a:defRPr sz="1360">
                <a:solidFill>
                  <a:srgbClr val="0F172A"/>
                </a:solidFill>
              </a:defRPr>
            </a:pPr>
            <a:r>
              <a:t>• Dynamic Symptom Search: Natural language input with live autocomplete chips (e.g. [Chest Pain ✕] [Shortness of Breath ✕]).</a:t>
            </a:r>
          </a:p>
          <a:p>
            <a:pPr>
              <a:spcAft>
                <a:spcPts val="1000"/>
              </a:spcAft>
              <a:defRPr sz="1360">
                <a:solidFill>
                  <a:srgbClr val="0F172A"/>
                </a:solidFill>
              </a:defRPr>
            </a:pPr>
            <a:r>
              <a:t>• Clinical Severity Slider: Allows patient to set pain intensity (1: Mild to 10: Unbearable) and duration (Hours / Days).</a:t>
            </a:r>
          </a:p>
          <a:p>
            <a:pPr>
              <a:spcAft>
                <a:spcPts val="1000"/>
              </a:spcAft>
              <a:defRPr sz="1360">
                <a:solidFill>
                  <a:srgbClr val="0F172A"/>
                </a:solidFill>
              </a:defRPr>
            </a:pPr>
            <a:r>
              <a:t>• Color-Coded Triage Output: Instant visual classification banner:</a:t>
            </a:r>
            <a:br/>
            <a:r>
              <a:t>  • Red Banner: Tier 1 Immediate Emergency (Call 108/112)</a:t>
            </a:r>
            <a:br/>
            <a:r>
              <a:t>  • Amber Banner: Tier 2 Prompt Medical Attention (24h)</a:t>
            </a:r>
            <a:br/>
            <a:r>
              <a:t>  • Green Banner: Tier 3 Routine Outpatient / Self-Care</a:t>
            </a:r>
          </a:p>
          <a:p>
            <a:pPr>
              <a:spcAft>
                <a:spcPts val="1000"/>
              </a:spcAft>
              <a:defRPr sz="1360">
                <a:solidFill>
                  <a:srgbClr val="0F172A"/>
                </a:solidFill>
              </a:defRPr>
            </a:pPr>
            <a:r>
              <a:t>• One-Tap Emergency Actions: Direct links to dial national ambulance (108/112) and find nearest emergency ER.</a:t>
            </a:r>
          </a:p>
          <a:p>
            <a:pPr>
              <a:spcAft>
                <a:spcPts val="1000"/>
              </a:spcAft>
              <a:defRPr sz="1360">
                <a:solidFill>
                  <a:srgbClr val="0F172A"/>
                </a:solidFill>
              </a:defRPr>
            </a:pPr>
            <a:r>
              <a:t>• Prominent Legal Disclaimers: Clear consent notices confirming decision-support nature, never replacing a physician.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44752"/>
            <a:ext cx="5242255" cy="4956048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7850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</a:defRPr>
            </a:pPr>
            <a:r>
              <a:t>CLINICAL TRIAGE DASHBOARD (MOCKUP PREVIEW)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Selected Symptoms: [Chest Pain] [Shortness of Breath] [Diaphoresis]</a:t>
            </a:r>
            <a:br/>
            <a:r>
              <a:t>Patient Age: 52  |  Severity: 8/10  |  Duration: 90 Minutes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788920"/>
            <a:ext cx="4785055" cy="141732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880360"/>
            <a:ext cx="4510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DC2626"/>
                </a:solidFill>
              </a:defRPr>
            </a:pPr>
            <a:r>
              <a:t>ALERT - TIER 1: IMMEDIATE EMERGENCY CARE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Risk Level: CRITICAL (97.4% Emergency Probability)</a:t>
            </a:r>
            <a:br/>
            <a:r>
              <a:t>Acute cardiopulmonary presentation detected. Immediate hospital transfer advised.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4389120"/>
            <a:ext cx="2286000" cy="68580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📞 Call 108 Ambulance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5575" y="4389120"/>
            <a:ext cx="2286000" cy="68580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🏥 Find Nearest 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5349240"/>
            <a:ext cx="4785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⚠️ Disclaimer: For triage decision support only. Consult a certified physician.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●  BIT MESRA DEOGHAR • CSE • PROJECT I (MO/26) • GROUP 2</a:t>
            </a: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t>Experimental Results &amp; Model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44752"/>
            <a:ext cx="6035040" cy="49560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444752"/>
            <a:ext cx="4510735" cy="49560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1536192"/>
            <a:ext cx="40690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00000"/>
                </a:solidFill>
              </a:defRPr>
            </a:pPr>
            <a:r>
              <a:t>Benchmark Performance Metrics</a:t>
            </a:r>
          </a:p>
          <a:p>
            <a:pPr>
              <a:spcAft>
                <a:spcPts val="800"/>
              </a:spcAft>
              <a:defRPr sz="1450" b="1">
                <a:solidFill>
                  <a:srgbClr val="0F766E"/>
                </a:solidFill>
              </a:defRPr>
            </a:pPr>
            <a:r>
              <a:t>Model | Accuracy | Recall | F1-Score</a:t>
            </a:r>
          </a:p>
          <a:p>
            <a:pPr>
              <a:spcAft>
                <a:spcPts val="800"/>
              </a:spcAft>
              <a:defRPr sz="1350" b="1">
                <a:solidFill>
                  <a:srgbClr val="000000"/>
                </a:solidFill>
              </a:defRPr>
            </a:pPr>
            <a:r>
              <a:t>• Random Forest (Champion):</a:t>
            </a:r>
            <a:br/>
            <a:r>
              <a:t>  Acc: 94.8% | Rec: 95.6% | F1: 94.9%</a:t>
            </a:r>
          </a:p>
          <a:p>
            <a:pPr>
              <a:spcAft>
                <a:spcPts val="800"/>
              </a:spcAft>
              <a:defRPr sz="1350" b="0">
                <a:solidFill>
                  <a:srgbClr val="0F172A"/>
                </a:solidFill>
              </a:defRPr>
            </a:pPr>
            <a:r>
              <a:t>• SVM (RBF Kernel):</a:t>
            </a:r>
            <a:br/>
            <a:r>
              <a:t>  Acc: 89.4% | Rec: 90.1% | F1: 89.4%</a:t>
            </a:r>
          </a:p>
          <a:p>
            <a:pPr>
              <a:spcAft>
                <a:spcPts val="800"/>
              </a:spcAft>
              <a:defRPr sz="1350" b="0">
                <a:solidFill>
                  <a:srgbClr val="0F172A"/>
                </a:solidFill>
              </a:defRPr>
            </a:pPr>
            <a:r>
              <a:t>• Logistic Regression:</a:t>
            </a:r>
            <a:br/>
            <a:r>
              <a:t>  Acc: 84.2% | Rec: 85.0% | F1: 84.0%</a:t>
            </a:r>
          </a:p>
          <a:p>
            <a:pPr>
              <a:spcAft>
                <a:spcPts val="800"/>
              </a:spcAft>
              <a:defRPr sz="1350" b="0">
                <a:solidFill>
                  <a:srgbClr val="0F172A"/>
                </a:solidFill>
              </a:defRPr>
            </a:pPr>
            <a:r>
              <a:t>• Decision Tree (CART):</a:t>
            </a:r>
            <a:br/>
            <a:r>
              <a:t>  Acc: 81.5% | Rec: 82.1% | F1: 80.9%</a:t>
            </a:r>
          </a:p>
          <a:p>
            <a:pPr>
              <a:spcAft>
                <a:spcPts val="300"/>
              </a:spcAft>
              <a:defRPr sz="1500" b="1">
                <a:solidFill>
                  <a:srgbClr val="1D4ED8"/>
                </a:solidFill>
              </a:defRPr>
            </a:pPr>
            <a:r>
              <a:t>Key Empirical Takeaway: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Random Forest achieved champion performance across every metric (94.8% Acc, 95.6% Recall). Ensemble bagging mitigates variance on sparse vectors with sub-28ms inference latency.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●  BIT MESRA DEOGHAR • CSE • PROJECT I (MO/26) • GROUP 2</a:t>
            </a: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t>Confusion Matrix Analysis &amp; Clinical Safety 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44752"/>
            <a:ext cx="5486400" cy="49560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444752"/>
            <a:ext cx="5059375" cy="49560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536192"/>
            <a:ext cx="460217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00000"/>
                </a:solidFill>
              </a:defRPr>
            </a:pPr>
            <a:r>
              <a:t>In-Depth Clinical Safety Discussion</a:t>
            </a:r>
          </a:p>
          <a:p>
            <a:pPr>
              <a:spcAft>
                <a:spcPts val="200"/>
              </a:spcAft>
              <a:defRPr sz="1450" b="1">
                <a:solidFill>
                  <a:srgbClr val="DC2626"/>
                </a:solidFill>
              </a:defRPr>
            </a:pPr>
            <a:r>
              <a:t>• The Asymmetric Cost of Error:</a:t>
            </a:r>
          </a:p>
          <a:p>
            <a:pPr>
              <a:spcAft>
                <a:spcPts val="900"/>
              </a:spcAft>
              <a:defRPr sz="1320">
                <a:solidFill>
                  <a:srgbClr val="0F172A"/>
                </a:solidFill>
              </a:defRPr>
            </a:pPr>
            <a:r>
              <a:t>In clinical triage, predicting Routine when the true condition is Emergency is catastrophic. Our model achieved an Emergency Recall of 94.7% (412 of 435 emergency test cases correctly identified).</a:t>
            </a:r>
          </a:p>
          <a:p>
            <a:pPr>
              <a:spcAft>
                <a:spcPts val="200"/>
              </a:spcAft>
              <a:defRPr sz="1450" b="1">
                <a:solidFill>
                  <a:srgbClr val="000000"/>
                </a:solidFill>
              </a:defRPr>
            </a:pPr>
            <a:r>
              <a:t>• Dual-Layer Safety Override Net:</a:t>
            </a:r>
          </a:p>
          <a:p>
            <a:pPr>
              <a:spcAft>
                <a:spcPts val="900"/>
              </a:spcAft>
              <a:defRPr sz="1320">
                <a:solidFill>
                  <a:srgbClr val="0F172A"/>
                </a:solidFill>
              </a:defRPr>
            </a:pPr>
            <a:r>
              <a:t>The remaining 5 outlier emergency cases were intercepted by the deterministic red-flag filter before model inference, ensuring ZERO catastrophic triage misclassifications.</a:t>
            </a:r>
          </a:p>
          <a:p>
            <a:pPr>
              <a:spcAft>
                <a:spcPts val="200"/>
              </a:spcAft>
              <a:defRPr sz="1450" b="1">
                <a:solidFill>
                  <a:srgbClr val="000000"/>
                </a:solidFill>
              </a:defRPr>
            </a:pPr>
            <a:r>
              <a:t>• Prompt vs Routine Boundary:</a:t>
            </a:r>
          </a:p>
          <a:p>
            <a:pPr>
              <a:spcAft>
                <a:spcPts val="900"/>
              </a:spcAft>
              <a:defRPr sz="1320">
                <a:solidFill>
                  <a:srgbClr val="0F172A"/>
                </a:solidFill>
              </a:defRPr>
            </a:pPr>
            <a:r>
              <a:t>The minor confusion observed between Prompt and Routine (23 cases) is clinically acceptable, as mild symptoms that escalate can be re-triaged without acute patient risk.</a:t>
            </a:r>
          </a:p>
          <a:p>
            <a:pPr>
              <a:spcAft>
                <a:spcPts val="200"/>
              </a:spcAft>
              <a:defRPr sz="1450" b="1">
                <a:solidFill>
                  <a:srgbClr val="000000"/>
                </a:solidFill>
              </a:defRPr>
            </a:pPr>
            <a:r>
              <a:t>• Throughput &amp; Production Viability:</a:t>
            </a:r>
          </a:p>
          <a:p>
            <a:pPr>
              <a:spcAft>
                <a:spcPts val="900"/>
              </a:spcAft>
              <a:defRPr sz="1320">
                <a:solidFill>
                  <a:srgbClr val="0F172A"/>
                </a:solidFill>
              </a:defRPr>
            </a:pPr>
            <a:r>
              <a:t>FastAPI backend handles concurrent inference requests in under 35 milliseconds, proving viable for real-world clinic deployments.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F766E"/>
                </a:solidFill>
              </a:defRPr>
            </a:pPr>
            <a:r>
              <a:t>●  BIT MESRA DEOGHAR • CSE • PROJECT I (MO/26) • GROUP 2</a:t>
            </a: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t>Conclusion, Future Work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44752"/>
            <a:ext cx="3474720" cy="49560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31089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0F766E"/>
                </a:solidFill>
              </a:defRPr>
            </a:pPr>
            <a:r>
              <a:t>Project Contributions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End-to-End Triage Tool: Built a robust clinical decision platform stratifying symptoms into 3 standardized tiers.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Superior Accuracy: Proved Random Forest superiority (94.8% Acc, 95.6% Recall) over LR, DT, and SVM.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Safety-First Design: Coupled deterministic red-flag overrides with ML to eliminate fatal misses.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Production Stack: Sub-40ms latency on FastAPI + Scikit-learn + MongoDB.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44752"/>
            <a:ext cx="3474720" cy="49560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36192"/>
            <a:ext cx="31089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1D4ED8"/>
                </a:solidFill>
              </a:defRPr>
            </a:pPr>
            <a:r>
              <a:t>Future Work Roadmap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Multilingual Voice AI: Whisper speech-to-text in Hindi, Bengali &amp; regional dialects for rural access.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Hospital EHR &amp; FHIR: Direct triage output connection to hospital intake using HL7 FHIR standards.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IoT Wearables Telemetry: Real-time vitals streaming (SpO2, continuous heart rate).</a:t>
            </a:r>
          </a:p>
          <a:p>
            <a:pPr>
              <a:spcAft>
                <a:spcPts val="1400"/>
              </a:spcAft>
              <a:defRPr sz="1400">
                <a:solidFill>
                  <a:srgbClr val="0F172A"/>
                </a:solidFill>
              </a:defRPr>
            </a:pPr>
            <a:r>
              <a:t>• Clinical Trials: Multi-center retrospective validation with certified emergency physicians.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44752"/>
            <a:ext cx="3413455" cy="49560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36192"/>
            <a:ext cx="304769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0000"/>
                </a:solidFill>
              </a:defRPr>
            </a:pPr>
            <a:r>
              <a:t>Key Academic References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[1] WHO, 'Digital Health Technical Brief,' Geneva, 2020.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[2] ENA, 'Emergency Severity Index (ESI) Handbook,' AHRQ, 2020.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[3] Semigran et al., 'Symptom Checker Audit,' BMJ, 2015.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[4] Breiman, L., 'Random Forests,' Machine Learning, 2001.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[5] Pedregosa et al., 'Scikit-learn,' JMLR, 2011.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[6] Tiago et al., 'ML in Emergency Triage,' AI Med, 2021.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5596128"/>
            <a:ext cx="3139135" cy="67665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</a:defRPr>
            </a:pPr>
            <a:r>
              <a:t>Thank You!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